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63" r:id="rId14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://47.79.228.128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hyperlink" Target="http://47.79.228.128/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hyperlink" Target="http://47.79.228.128/" TargetMode="External"/><Relationship Id="rId4" Type="http://schemas.openxmlformats.org/officeDocument/2006/relationships/hyperlink" Target="https://github.com/Mikey-SI/everylane-macau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B8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>
                <a:solidFill>
                  <a:srgbClr val="706860"/>
                </a:solidFill>
                <a:latin typeface="Microsoft YaHei"/>
              </a:rPr>
              <a:t>QwenPaw 創新挑戰賽 · 初賽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5760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="http://schemas.openxmlformats.org/officeDocument/2006/main" sz="3400" b="1" ns1:eastAsia="Microsoft YaHei">
                <a:solidFill>
                  <a:srgbClr val="2A2826"/>
                </a:solidFill>
                <a:latin typeface="Microsoft YaHei"/>
              </a:rPr>
              <a:t>街知巷聞</a:t>
            </a:r>
          </a:p>
          <a:p>
            <a:pPr algn="l"/>
            <a:r>
              <a:rPr xmlns:ns2="http://schemas.openxmlformats.org/officeDocument/2006/main" sz="3400" b="1" ns2:eastAsia="Microsoft YaHei">
                <a:solidFill>
                  <a:srgbClr val="2A2826"/>
                </a:solidFill>
                <a:latin typeface="Microsoft YaHei"/>
              </a:rPr>
              <a:t>EveryLane Macau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60604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3="http://schemas.openxmlformats.org/officeDocument/2006/main" sz="1600" b="0" ns3:eastAsia="Microsoft YaHei">
                <a:solidFill>
                  <a:srgbClr val="C45A3A"/>
                </a:solidFill>
                <a:latin typeface="Microsoft YaHei"/>
              </a:rPr>
              <a:t>唔止大三巴，帶你行勻、亦帶旺澳門每一條老街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423160"/>
            <a:ext cx="640080" cy="54864"/>
          </a:xfrm>
          <a:prstGeom prst="rect">
            <a:avLst/>
          </a:prstGeom>
          <a:solidFill>
            <a:srgbClr val="B08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356616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>
                <a:latin typeface="Microsoft YaHei"/>
              </a:rPr>
              <a:t>●  隊伍：愛拼才會贏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005072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>
                <a:latin typeface="Microsoft YaHei"/>
              </a:rPr>
              <a:t>●  成員：施天益（SI TIN IEK）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443983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>
                <a:latin typeface="Microsoft YaHei"/>
              </a:rPr>
              <a:t>●  一人團隊：產品 · Agent · 全端 · 測試</a:t>
            </a:r>
          </a:p>
        </p:txBody>
      </p:sp>
      <p:pic>
        <p:nvPicPr>
          <p:cNvPr id="11" name="Picture 10" descr="01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640080"/>
            <a:ext cx="5212080" cy="48320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920" y="6355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>
                <a:solidFill>
                  <a:srgbClr val="C64331"/>
                </a:solidFill>
                <a:latin typeface="Microsoft YaHei"/>
              </a:rPr>
              <a:t>01 / 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35508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xmlns:ns8="http://schemas.openxmlformats.org/officeDocument/2006/main" sz="1200" b="0" ns8:eastAsia="Microsoft YaHei">
                <a:solidFill>
                  <a:srgbClr val="2A2826"/>
                </a:solidFill>
                <a:latin typeface="Microsoft YaHei"/>
              </a:rPr>
              <a:t>街知巷聞 · EveryLane Macau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892040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C45A3A"/>
                </a:solidFill>
                <a:latin typeface="Microsoft YaHei"/>
                <a:hlinkClick r:id="rId3"/>
              </a:rPr>
              <a:t>線上演示：http://47.79.228.128/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3E9"/>
          </a:solidFill>
          <a:ln>
            <a:solidFill>
              <a:srgbClr val="F8F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64331"/>
          </a:solidFill>
          <a:ln>
            <a:solidFill>
              <a:srgbClr val="C643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>
                <a:solidFill>
                  <a:srgbClr val="706860"/>
                </a:solidFill>
                <a:latin typeface="Microsoft YaHei"/>
              </a:rPr>
              <a:t>01 · 團隊成員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576072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>
                <a:solidFill>
                  <a:srgbClr val="2B2520"/>
                </a:solidFill>
                <a:latin typeface="Microsoft YaHei"/>
              </a:rPr>
              <a:t>一人團隊，
全鏈路完成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423160"/>
            <a:ext cx="640080" cy="54864"/>
          </a:xfrm>
          <a:prstGeom prst="rect">
            <a:avLst/>
          </a:prstGeom>
          <a:solidFill>
            <a:srgbClr val="B77B2A"/>
          </a:solidFill>
          <a:ln>
            <a:solidFill>
              <a:srgbClr val="B77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606040"/>
            <a:ext cx="5669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>
                <a:solidFill>
                  <a:srgbClr val="C64331"/>
                </a:solidFill>
                <a:latin typeface="Microsoft YaHei"/>
              </a:rPr>
              <a:t>施天益 · SI TIN IEK｜把 AI、工程能力與澳門在地觀察，做成可用產品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56616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>
                <a:solidFill>
                  <a:srgbClr val="2B2520"/>
                </a:solidFill>
                <a:latin typeface="Microsoft YaHei"/>
              </a:rPr>
              <a:t>●  澳門大學計算機相關專業學生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005072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>
                <a:solidFill>
                  <a:srgbClr val="2B2520"/>
                </a:solidFill>
                <a:latin typeface="Microsoft YaHei"/>
              </a:rPr>
              <a:t>●  AI / 全端開發 / 資料工程 / Web 安全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443984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>
                <a:solidFill>
                  <a:srgbClr val="2B2520"/>
                </a:solidFill>
                <a:latin typeface="Microsoft YaHei"/>
              </a:rPr>
              <a:t>●  AIA 實習經驗 · NewStar CTF 2025 二等獎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010912"/>
            <a:ext cx="56235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706860"/>
                </a:solidFill>
                <a:latin typeface="Microsoft YaHei"/>
              </a:rPr>
              <a:t>本項目角色：產品策劃 · QwenPaw Agent · Skill / MCP · 前後端 · 測試</a:t>
            </a:r>
          </a:p>
        </p:txBody>
      </p:sp>
      <p:sp>
        <p:nvSpPr>
          <p:cNvPr id="12" name="Rectangle 11"/>
          <p:cNvSpPr/>
          <p:nvPr/>
        </p:nvSpPr>
        <p:spPr>
          <a:xfrm rot="21420000">
            <a:off x="6967728" y="475488"/>
            <a:ext cx="4251960" cy="4645152"/>
          </a:xfrm>
          <a:prstGeom prst="rect">
            <a:avLst/>
          </a:prstGeom>
          <a:solidFill>
            <a:srgbClr val="EDDBBB"/>
          </a:solidFill>
          <a:ln>
            <a:solidFill>
              <a:srgbClr val="EDD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73952" y="621792"/>
            <a:ext cx="480060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DD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80960" y="877824"/>
            <a:ext cx="2395728" cy="2834640"/>
          </a:xfrm>
          <a:prstGeom prst="roundRect">
            <a:avLst/>
          </a:prstGeom>
          <a:solidFill>
            <a:srgbClr val="F8F3E9"/>
          </a:solidFill>
          <a:ln>
            <a:solidFill>
              <a:srgbClr val="E0D3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_team_profile_si_tin_ie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3256" y="932688"/>
            <a:ext cx="2231136" cy="272491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812280" y="3886200"/>
            <a:ext cx="41148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200" b="1">
                <a:solidFill>
                  <a:srgbClr val="2B2520"/>
                </a:solidFill>
                <a:latin typeface="Microsoft YaHei"/>
              </a:rPr>
              <a:t>施天益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4279392"/>
            <a:ext cx="4114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706860"/>
                </a:solidFill>
                <a:latin typeface="Microsoft YaHei"/>
              </a:rPr>
              <a:t>SI TIN IEK · 隊長 / 唯一成員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03720" y="4791456"/>
            <a:ext cx="960120" cy="420624"/>
          </a:xfrm>
          <a:prstGeom prst="roundRect">
            <a:avLst/>
          </a:prstGeom>
          <a:solidFill>
            <a:srgbClr val="F8F3E9"/>
          </a:solidFill>
          <a:ln>
            <a:solidFill>
              <a:srgbClr val="EDD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C64331"/>
                </a:solidFill>
                <a:latin typeface="Microsoft YaHei"/>
              </a:rPr>
              <a:t>產品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10144" y="4791456"/>
            <a:ext cx="1298448" cy="420624"/>
          </a:xfrm>
          <a:prstGeom prst="roundRect">
            <a:avLst/>
          </a:prstGeom>
          <a:solidFill>
            <a:srgbClr val="F8F3E9"/>
          </a:solidFill>
          <a:ln>
            <a:solidFill>
              <a:srgbClr val="EDD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C64331"/>
                </a:solidFill>
                <a:latin typeface="Microsoft YaHei"/>
              </a:rPr>
              <a:t>AI Agent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91472" y="4791456"/>
            <a:ext cx="960120" cy="420624"/>
          </a:xfrm>
          <a:prstGeom prst="roundRect">
            <a:avLst/>
          </a:prstGeom>
          <a:solidFill>
            <a:srgbClr val="F8F3E9"/>
          </a:solidFill>
          <a:ln>
            <a:solidFill>
              <a:srgbClr val="EDD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C64331"/>
                </a:solidFill>
                <a:latin typeface="Microsoft YaHei"/>
              </a:rPr>
              <a:t>全端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3550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C64331"/>
                </a:solidFill>
                <a:latin typeface="Microsoft YaHei"/>
              </a:rPr>
              <a:t>02 / 08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6355080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706860"/>
                </a:solidFill>
                <a:latin typeface="Microsoft YaHei"/>
              </a:rPr>
              <a:t>街知巷聞 · EveryLane Macau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B8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>
                <a:solidFill>
                  <a:srgbClr val="706860"/>
                </a:solidFill>
                <a:latin typeface="Microsoft YaHei"/>
              </a:rPr>
              <a:t>02 · 為什麼做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5760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="http://schemas.openxmlformats.org/officeDocument/2006/main" sz="3400" b="1" ns1:eastAsia="Microsoft YaHei">
                <a:solidFill>
                  <a:srgbClr val="2A2826"/>
                </a:solidFill>
                <a:latin typeface="Microsoft YaHei"/>
              </a:rPr>
              <a:t>同一座城市，</a:t>
            </a:r>
          </a:p>
          <a:p>
            <a:pPr algn="l"/>
            <a:r>
              <a:rPr xmlns:ns2="http://schemas.openxmlformats.org/officeDocument/2006/main" sz="3400" b="1" ns2:eastAsia="Microsoft YaHei">
                <a:solidFill>
                  <a:srgbClr val="2A2826"/>
                </a:solidFill>
                <a:latin typeface="Microsoft YaHei"/>
              </a:rPr>
              <a:t>兩種完全不同的人流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60604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3="http://schemas.openxmlformats.org/officeDocument/2006/main" sz="1600" b="0" ns3:eastAsia="Microsoft YaHei">
                <a:solidFill>
                  <a:srgbClr val="C45A3A"/>
                </a:solidFill>
                <a:latin typeface="Microsoft YaHei"/>
              </a:rPr>
              <a:t>熱點過度集中，幾分鐘外的老街與街坊小店卻未得到同樣客流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423160"/>
            <a:ext cx="640080" cy="54864"/>
          </a:xfrm>
          <a:prstGeom prst="rect">
            <a:avLst/>
          </a:prstGeom>
          <a:solidFill>
            <a:srgbClr val="B08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356616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4="http://schemas.openxmlformats.org/officeDocument/2006/main" sz="1600" b="0" ns4:eastAsia="Microsoft YaHei">
                <a:solidFill>
                  <a:srgbClr val="2A2826"/>
                </a:solidFill>
                <a:latin typeface="Microsoft YaHei"/>
              </a:rPr>
              <a:t>●  遊客：排隊、同質化、查資料費時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005072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5="http://schemas.openxmlformats.org/officeDocument/2006/main" sz="1600" b="0" ns5:eastAsia="Microsoft YaHei">
                <a:solidFill>
                  <a:srgbClr val="2A2826"/>
                </a:solidFill>
                <a:latin typeface="Microsoft YaHei"/>
              </a:rPr>
              <a:t>●  小店：有文化但缺新客流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443983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6="http://schemas.openxmlformats.org/officeDocument/2006/main" sz="1600" b="0" ns6:eastAsia="Microsoft YaHei">
                <a:solidFill>
                  <a:srgbClr val="2A2826"/>
                </a:solidFill>
                <a:latin typeface="Microsoft YaHei"/>
              </a:rPr>
              <a:t>●  城市：旅遊承載失衡</a:t>
            </a:r>
          </a:p>
        </p:txBody>
      </p:sp>
      <p:pic>
        <p:nvPicPr>
          <p:cNvPr id="11" name="Picture 10" descr="02_wh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640080"/>
            <a:ext cx="5212080" cy="48320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920" y="6355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>
                <a:solidFill>
                  <a:srgbClr val="C64331"/>
                </a:solidFill>
                <a:latin typeface="Microsoft YaHei"/>
              </a:rPr>
              <a:t>03 / 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35508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xmlns:ns8="http://schemas.openxmlformats.org/officeDocument/2006/main" sz="1200" b="0" ns8:eastAsia="Microsoft YaHei">
                <a:solidFill>
                  <a:srgbClr val="2A2826"/>
                </a:solidFill>
                <a:latin typeface="Microsoft YaHei"/>
              </a:rPr>
              <a:t>街知巷聞 · EveryLane Macau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B8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>
                <a:solidFill>
                  <a:srgbClr val="706860"/>
                </a:solidFill>
                <a:latin typeface="Microsoft YaHei"/>
              </a:rPr>
              <a:t>03 · QwenPaw 實際部署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5760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="http://schemas.openxmlformats.org/officeDocument/2006/main" sz="3400" b="1" ns1:eastAsia="Microsoft YaHei">
                <a:solidFill>
                  <a:srgbClr val="2A2826"/>
                </a:solidFill>
                <a:latin typeface="Microsoft YaHei"/>
              </a:rPr>
              <a:t>不是「對標」，</a:t>
            </a:r>
          </a:p>
          <a:p>
            <a:pPr algn="l"/>
            <a:r>
              <a:rPr xmlns:ns2="http://schemas.openxmlformats.org/officeDocument/2006/main" sz="3400" b="1" ns2:eastAsia="Microsoft YaHei">
                <a:solidFill>
                  <a:srgbClr val="2A2826"/>
                </a:solidFill>
                <a:latin typeface="Microsoft YaHei"/>
              </a:rPr>
              <a:t>而是真正接入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60604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3="http://schemas.openxmlformats.org/officeDocument/2006/main" sz="1600" b="0" ns3:eastAsia="Microsoft YaHei">
                <a:solidFill>
                  <a:srgbClr val="C45A3A"/>
                </a:solidFill>
                <a:latin typeface="Microsoft YaHei"/>
              </a:rPr>
              <a:t>QwenPaw 2.0 + EveryLane Skill + stdio MCP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423160"/>
            <a:ext cx="640080" cy="54864"/>
          </a:xfrm>
          <a:prstGeom prst="rect">
            <a:avLst/>
          </a:prstGeom>
          <a:solidFill>
            <a:srgbClr val="B08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356616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4="http://schemas.openxmlformats.org/officeDocument/2006/main" sz="1600" b="0" ns4:eastAsia="Microsoft YaHei">
                <a:solidFill>
                  <a:srgbClr val="2A2826"/>
                </a:solidFill>
                <a:latin typeface="Microsoft YaHei"/>
              </a:rPr>
              <a:t>●  專用 Skill：阿濠人設與工作流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005072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5="http://schemas.openxmlformats.org/officeDocument/2006/main" sz="1600" b="0" ns5:eastAsia="Microsoft YaHei">
                <a:solidFill>
                  <a:srgbClr val="2A2826"/>
                </a:solidFill>
                <a:latin typeface="Microsoft YaHei"/>
              </a:rPr>
              <a:t>●  MCP：7 個旅遊工具 + 1 個完整流程工具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443983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6="http://schemas.openxmlformats.org/officeDocument/2006/main" sz="1600" b="0" ns6:eastAsia="Microsoft YaHei">
                <a:solidFill>
                  <a:srgbClr val="2A2826"/>
                </a:solidFill>
                <a:latin typeface="Microsoft YaHei"/>
              </a:rPr>
              <a:t>●  Token Plan 就緒：qwen3.7-plus</a:t>
            </a:r>
          </a:p>
        </p:txBody>
      </p:sp>
      <p:pic>
        <p:nvPicPr>
          <p:cNvPr id="11" name="Picture 10" descr="03_qwenp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640080"/>
            <a:ext cx="5212080" cy="48320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920" y="6355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>
                <a:solidFill>
                  <a:srgbClr val="C64331"/>
                </a:solidFill>
                <a:latin typeface="Microsoft YaHei"/>
              </a:rPr>
              <a:t>04 / 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35508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xmlns:ns8="http://schemas.openxmlformats.org/officeDocument/2006/main" sz="1200" b="0" ns8:eastAsia="Microsoft YaHei">
                <a:solidFill>
                  <a:srgbClr val="2A2826"/>
                </a:solidFill>
                <a:latin typeface="Microsoft YaHei"/>
              </a:rPr>
              <a:t>街知巷聞 · EveryLane Macau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B8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>
                <a:solidFill>
                  <a:srgbClr val="706860"/>
                </a:solidFill>
                <a:latin typeface="Microsoft YaHei"/>
              </a:rPr>
              <a:t>04 · 場景設計與失敗恢復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5760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="http://schemas.openxmlformats.org/officeDocument/2006/main" sz="3400" b="1" ns1:eastAsia="Microsoft YaHei">
                <a:solidFill>
                  <a:srgbClr val="2A2826"/>
                </a:solidFill>
                <a:latin typeface="Microsoft YaHei"/>
              </a:rPr>
              <a:t>景點休息，</a:t>
            </a:r>
          </a:p>
          <a:p>
            <a:pPr algn="l"/>
            <a:r>
              <a:rPr xmlns:ns2="http://schemas.openxmlformats.org/officeDocument/2006/main" sz="3400" b="1" ns2:eastAsia="Microsoft YaHei">
                <a:solidFill>
                  <a:srgbClr val="2A2826"/>
                </a:solidFill>
                <a:latin typeface="Microsoft YaHei"/>
              </a:rPr>
              <a:t>智能體不會卡住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60604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3="http://schemas.openxmlformats.org/officeDocument/2006/main" sz="1600" b="0" ns3:eastAsia="Microsoft YaHei">
                <a:solidFill>
                  <a:srgbClr val="C45A3A"/>
                </a:solidFill>
                <a:latin typeface="Microsoft YaHei"/>
              </a:rPr>
              <a:t>鄭家大屋（星期三）→ 核實休息 → 同區自動改線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423160"/>
            <a:ext cx="640080" cy="54864"/>
          </a:xfrm>
          <a:prstGeom prst="rect">
            <a:avLst/>
          </a:prstGeom>
          <a:solidFill>
            <a:srgbClr val="B08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356616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4="http://schemas.openxmlformats.org/officeDocument/2006/main" sz="1600" b="0" ns4:eastAsia="Microsoft YaHei">
                <a:solidFill>
                  <a:srgbClr val="2A2826"/>
                </a:solidFill>
                <a:latin typeface="Microsoft YaHei"/>
              </a:rPr>
              <a:t>●  check_opening：發現週三休息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005072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5="http://schemas.openxmlformats.org/officeDocument/2006/main" sz="1600" b="0" ns5:eastAsia="Microsoft YaHei">
                <a:solidFill>
                  <a:srgbClr val="2A2826"/>
                </a:solidFill>
                <a:latin typeface="Microsoft YaHei"/>
              </a:rPr>
              <a:t>●  Recovery：改往戀愛巷等同區景點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443983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6="http://schemas.openxmlformats.org/officeDocument/2006/main" sz="1600" b="0" ns6:eastAsia="Microsoft YaHei">
                <a:solidFill>
                  <a:srgbClr val="2A2826"/>
                </a:solidFill>
                <a:latin typeface="Microsoft YaHei"/>
              </a:rPr>
              <a:t>●  predict_crowd：熱門點錯峰與老街導流</a:t>
            </a:r>
          </a:p>
        </p:txBody>
      </p:sp>
      <p:pic>
        <p:nvPicPr>
          <p:cNvPr id="11" name="Picture 10" descr="04_re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640080"/>
            <a:ext cx="5212080" cy="48320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920" y="6355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>
                <a:solidFill>
                  <a:srgbClr val="C64331"/>
                </a:solidFill>
                <a:latin typeface="Microsoft YaHei"/>
              </a:rPr>
              <a:t>05 / 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35508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xmlns:ns8="http://schemas.openxmlformats.org/officeDocument/2006/main" sz="1200" b="0" ns8:eastAsia="Microsoft YaHei">
                <a:solidFill>
                  <a:srgbClr val="2A2826"/>
                </a:solidFill>
                <a:latin typeface="Microsoft YaHei"/>
              </a:rPr>
              <a:t>街知巷聞 · EveryLane Macau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B8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>
                <a:solidFill>
                  <a:srgbClr val="706860"/>
                </a:solidFill>
                <a:latin typeface="Microsoft YaHei"/>
              </a:rPr>
              <a:t>05 · 可驗證的產品輸出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5760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="http://schemas.openxmlformats.org/officeDocument/2006/main" sz="3400" b="1" ns1:eastAsia="Microsoft YaHei">
                <a:solidFill>
                  <a:srgbClr val="2A2826"/>
                </a:solidFill>
                <a:latin typeface="Microsoft YaHei"/>
              </a:rPr>
              <a:t>每個結論，</a:t>
            </a:r>
          </a:p>
          <a:p>
            <a:pPr algn="l"/>
            <a:r>
              <a:rPr xmlns:ns2="http://schemas.openxmlformats.org/officeDocument/2006/main" sz="3400" b="1" ns2:eastAsia="Microsoft YaHei">
                <a:solidFill>
                  <a:srgbClr val="2A2826"/>
                </a:solidFill>
                <a:latin typeface="Microsoft YaHei"/>
              </a:rPr>
              <a:t>都有數據可以核對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60604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3="http://schemas.openxmlformats.org/officeDocument/2006/main" sz="1600" b="0" ns3:eastAsia="Microsoft YaHei">
                <a:solidFill>
                  <a:srgbClr val="C45A3A"/>
                </a:solidFill>
                <a:latin typeface="Microsoft YaHei"/>
              </a:rPr>
              <a:t>地圖 + 時間軸 + 人流 + 開放 + 距離 + 預算 + 任務核對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423160"/>
            <a:ext cx="640080" cy="54864"/>
          </a:xfrm>
          <a:prstGeom prst="rect">
            <a:avLst/>
          </a:prstGeom>
          <a:solidFill>
            <a:srgbClr val="B08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356616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4="http://schemas.openxmlformats.org/officeDocument/2006/main" sz="1600" b="0" ns4:eastAsia="Microsoft YaHei">
                <a:solidFill>
                  <a:srgbClr val="2A2826"/>
                </a:solidFill>
                <a:latin typeface="Microsoft YaHei"/>
              </a:rPr>
              <a:t>●  一至五日，每日一個可步行片區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005072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5="http://schemas.openxmlformats.org/officeDocument/2006/main" sz="1600" b="0" ns5:eastAsia="Microsoft YaHei">
                <a:solidFill>
                  <a:srgbClr val="2A2826"/>
                </a:solidFill>
                <a:latin typeface="Microsoft YaHei"/>
              </a:rPr>
              <a:t>●  繁中 / 簡中 / 英 / 葡 / 日 五語言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443983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6="http://schemas.openxmlformats.org/officeDocument/2006/main" sz="1600" b="0" ns6:eastAsia="Microsoft YaHei">
                <a:solidFill>
                  <a:srgbClr val="2A2826"/>
                </a:solidFill>
                <a:latin typeface="Microsoft YaHei"/>
              </a:rPr>
              <a:t>●  PDF 只輸出 AI 行程結果</a:t>
            </a:r>
          </a:p>
        </p:txBody>
      </p:sp>
      <p:pic>
        <p:nvPicPr>
          <p:cNvPr id="11" name="Picture 10" descr="05_produ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640080"/>
            <a:ext cx="5212080" cy="48320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920" y="6355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>
                <a:solidFill>
                  <a:srgbClr val="C64331"/>
                </a:solidFill>
                <a:latin typeface="Microsoft YaHei"/>
              </a:rPr>
              <a:t>06 / 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35508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xmlns:ns8="http://schemas.openxmlformats.org/officeDocument/2006/main" sz="1200" b="0" ns8:eastAsia="Microsoft YaHei">
                <a:solidFill>
                  <a:srgbClr val="2A2826"/>
                </a:solidFill>
                <a:latin typeface="Microsoft YaHei"/>
              </a:rPr>
              <a:t>街知巷聞 · EveryLane Macau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983480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C45A3A"/>
                </a:solidFill>
                <a:latin typeface="Microsoft YaHei"/>
                <a:hlinkClick r:id="rId3"/>
              </a:rPr>
              <a:t>線上演示：http://47.79.228.128/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B8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>
                <a:solidFill>
                  <a:srgbClr val="706860"/>
                </a:solidFill>
                <a:latin typeface="Microsoft YaHei"/>
              </a:rPr>
              <a:t>06 · 商業與社會價值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5760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="http://schemas.openxmlformats.org/officeDocument/2006/main" sz="3400" b="1" ns1:eastAsia="Microsoft YaHei">
                <a:solidFill>
                  <a:srgbClr val="2A2826"/>
                </a:solidFill>
                <a:latin typeface="Microsoft YaHei"/>
              </a:rPr>
              <a:t>一個導流引擎，</a:t>
            </a:r>
          </a:p>
          <a:p>
            <a:pPr algn="l"/>
            <a:r>
              <a:rPr xmlns:ns2="http://schemas.openxmlformats.org/officeDocument/2006/main" sz="3400" b="1" ns2:eastAsia="Microsoft YaHei">
                <a:solidFill>
                  <a:srgbClr val="2A2826"/>
                </a:solidFill>
                <a:latin typeface="Microsoft YaHei"/>
              </a:rPr>
              <a:t>三方共贏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60604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3="http://schemas.openxmlformats.org/officeDocument/2006/main" sz="1600" b="0" ns3:eastAsia="Microsoft YaHei">
                <a:solidFill>
                  <a:srgbClr val="C45A3A"/>
                </a:solidFill>
                <a:latin typeface="Microsoft YaHei"/>
              </a:rPr>
              <a:t>把「推薦」升級為可歸因的舊區客流服務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423160"/>
            <a:ext cx="640080" cy="54864"/>
          </a:xfrm>
          <a:prstGeom prst="rect">
            <a:avLst/>
          </a:prstGeom>
          <a:solidFill>
            <a:srgbClr val="B08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356616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4="http://schemas.openxmlformats.org/officeDocument/2006/main" sz="1600" b="0" ns4:eastAsia="Microsoft YaHei">
                <a:solidFill>
                  <a:srgbClr val="2A2826"/>
                </a:solidFill>
                <a:latin typeface="Microsoft YaHei"/>
              </a:rPr>
              <a:t>●  遊客：少排隊、少查資料、玩得更地道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005072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5="http://schemas.openxmlformats.org/officeDocument/2006/main" sz="1600" b="0" ns5:eastAsia="Microsoft YaHei">
                <a:solidFill>
                  <a:srgbClr val="2A2826"/>
                </a:solidFill>
                <a:latin typeface="Microsoft YaHei"/>
              </a:rPr>
              <a:t>●  小店：獲得新的可量化到訪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443983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6="http://schemas.openxmlformats.org/officeDocument/2006/main" sz="1600" b="0" ns6:eastAsia="Microsoft YaHei">
                <a:solidFill>
                  <a:srgbClr val="2A2826"/>
                </a:solidFill>
                <a:latin typeface="Microsoft YaHei"/>
              </a:rPr>
              <a:t>●  城市：平衡承載、活化舊區、保育文化</a:t>
            </a:r>
          </a:p>
        </p:txBody>
      </p:sp>
      <p:pic>
        <p:nvPicPr>
          <p:cNvPr id="11" name="Picture 10" descr="06_va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640080"/>
            <a:ext cx="5212080" cy="48320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920" y="6355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>
                <a:solidFill>
                  <a:srgbClr val="C64331"/>
                </a:solidFill>
                <a:latin typeface="Microsoft YaHei"/>
              </a:rPr>
              <a:t>07 / 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35508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xmlns:ns8="http://schemas.openxmlformats.org/officeDocument/2006/main" sz="1200" b="0" ns8:eastAsia="Microsoft YaHei">
                <a:solidFill>
                  <a:srgbClr val="2A2826"/>
                </a:solidFill>
                <a:latin typeface="Microsoft YaHei"/>
              </a:rPr>
              <a:t>街知巷聞 · EveryLane Macau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B8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>
                <a:solidFill>
                  <a:srgbClr val="706860"/>
                </a:solidFill>
                <a:latin typeface="Microsoft YaHei"/>
              </a:rPr>
              <a:t>07 · 完成度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5760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latin typeface="Microsoft YaHei"/>
              </a:rPr>
              <a:t>六輪測試，</a:t>
            </a:r>
            <a:br/>
            <a:r>
              <a:rPr sz="3400" b="1">
                <a:latin typeface="Microsoft YaHei"/>
              </a:rPr>
              <a:t>不是只測一次 Demo</a:t>
            </a:r>
          </a:p>
          <a:p>
            <a:pPr algn="l">
              <a:spcAft>
                <a:spcPts val="0"/>
              </a:spcAft>
            </a:pPr>
            <a:r>
              <a:rPr xmlns:ns2="http://schemas.openxmlformats.org/officeDocument/2006/main" sz="3400" b="1" ns2:eastAsia="Microsoft YaHei">
                <a:solidFill>
                  <a:srgbClr val="2A2826"/>
                </a:solidFill>
                <a:latin typeface="Microsoft YaHei"/>
              </a:rPr>
              <a:t>不是只測一次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60604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>
                <a:solidFill>
                  <a:srgbClr val="C64331"/>
                </a:solidFill>
                <a:latin typeface="Microsoft YaHei"/>
              </a:rPr>
              <a:t>六輪回歸 · 公網實測 · API 安全 · MCP 協議 · 交付一致性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423160"/>
            <a:ext cx="640080" cy="54864"/>
          </a:xfrm>
          <a:prstGeom prst="rect">
            <a:avLst/>
          </a:prstGeom>
          <a:solidFill>
            <a:srgbClr val="B08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356616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>
                <a:latin typeface="Microsoft YaHei"/>
              </a:rPr>
              <a:t>●  641 後端 PASS · 0 FAIL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005072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>
                <a:latin typeface="Microsoft YaHei"/>
              </a:rPr>
              <a:t>●  99 瀏覽器 PASS · 64 API / 安全 PASS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443983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>
                <a:latin typeface="Microsoft YaHei"/>
              </a:rPr>
              <a:t>●  70 / 70 POI 有圖片 · 8 MCP 工具通過</a:t>
            </a:r>
          </a:p>
        </p:txBody>
      </p:sp>
      <p:pic>
        <p:nvPicPr>
          <p:cNvPr id="11" name="Picture 10" descr="07_d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640080"/>
            <a:ext cx="5212080" cy="48320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920" y="6355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>
                <a:solidFill>
                  <a:srgbClr val="C64331"/>
                </a:solidFill>
                <a:latin typeface="Microsoft YaHei"/>
              </a:rPr>
              <a:t>08 / 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35508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xmlns:ns8="http://schemas.openxmlformats.org/officeDocument/2006/main" sz="1200" b="0" ns8:eastAsia="Microsoft YaHei">
                <a:solidFill>
                  <a:srgbClr val="2A2826"/>
                </a:solidFill>
                <a:latin typeface="Microsoft YaHei"/>
              </a:rPr>
              <a:t>街知巷聞 · EveryLane Macau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983480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C45A3A"/>
                </a:solidFill>
                <a:latin typeface="Microsoft YaHei"/>
                <a:hlinkClick r:id="rId3"/>
              </a:rPr>
              <a:t>線上演示：http://47.79.228.128/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440680"/>
            <a:ext cx="5669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2A2826"/>
                </a:solidFill>
                <a:latin typeface="Microsoft YaHei"/>
                <a:hlinkClick r:id="rId4"/>
              </a:rPr>
              <a:t>GitHub：https://github.com/Mikey-SI/everylane-macau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愛拼才會贏｜街知巷聞｜團隊介紹</dc:title>
  <dc:subject>QwenPaw 創新挑戰賽初賽團隊介紹（8頁，文字圖片可編輯）</dc:subject>
  <dc:creator>施天益（SI TIN IEK）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