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3F52"/>
          </a:solidFill>
          <a:ln>
            <a:solidFill>
              <a:srgbClr val="26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7132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0CD9F"/>
                </a:solidFill>
                <a:latin typeface="Noto Sans TC"/>
              </a:rPr>
              <a:t>「千模百煉」AI 開發者系列學生競賽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475488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Noto Serif TC"/>
              </a:rPr>
              <a:t>街知巷聞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956816"/>
            <a:ext cx="49377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D0DCE4"/>
                </a:solidFill>
                <a:latin typeface="Noto Sans TC"/>
              </a:rPr>
              <a:t>EveryLane Macau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06040"/>
            <a:ext cx="6583680" cy="11430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3D184"/>
                </a:solidFill>
                <a:latin typeface="Noto Serif TC"/>
              </a:rPr>
              <a:t>不只推薦澳門，
而是重新分配澳門的旅遊流量。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4041648"/>
            <a:ext cx="676656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TC"/>
              </a:rPr>
              <a:t>Qwen / QwenPaw 智能體 × 舊區導流 × 可歸因商戶閉環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681728"/>
            <a:ext cx="62179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0DCE4"/>
                </a:solidFill>
                <a:latin typeface="Noto Sans TC"/>
              </a:rPr>
              <a:t>隊伍：愛拼才會贏  ·  施天益（SI TIN IEK）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1234440"/>
            <a:ext cx="2240280" cy="3383280"/>
          </a:xfrm>
          <a:prstGeom prst="roundRect">
            <a:avLst/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ite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572768"/>
            <a:ext cx="1600200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72600" y="3364992"/>
            <a:ext cx="1874519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63F52"/>
                </a:solidFill>
                <a:latin typeface="Noto Sans TC"/>
              </a:rPr>
              <a:t>掃碼即場體驗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3730752"/>
            <a:ext cx="178308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95D50"/>
                </a:solidFill>
                <a:latin typeface="Noto Sans TC"/>
              </a:rPr>
              <a:t>真實 Qwen
90 秒評審模式
成效儀表板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6172200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Noto Sans TC"/>
              </a:rPr>
              <a:t>http://47.79.228.128/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9611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C5E86"/>
                </a:solidFill>
                <a:latin typeface="Noto Sans TC"/>
              </a:rPr>
              <a:t>01 · REAL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A2019"/>
                </a:solidFill>
                <a:latin typeface="Noto Serif TC"/>
              </a:rPr>
              <a:t>澳門不缺景點，缺的是「把人流帶對地方」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95D50"/>
                </a:solidFill>
                <a:latin typeface="Noto Sans T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60120" cy="36576"/>
          </a:xfrm>
          <a:prstGeom prst="rect">
            <a:avLst/>
          </a:prstGeom>
          <a:solidFill>
            <a:srgbClr val="BE4A3A"/>
          </a:solidFill>
          <a:ln>
            <a:solidFill>
              <a:srgbClr val="BE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3291840" cy="3611880"/>
          </a:xfrm>
          <a:prstGeom prst="roundRect">
            <a:avLst/>
          </a:prstGeom>
          <a:solidFill>
            <a:srgbClr val="FCEDE6"/>
          </a:solidFill>
          <a:ln>
            <a:solidFill>
              <a:srgbClr val="EBC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65176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BE4A3A"/>
                </a:solidFill>
                <a:latin typeface="Noto Serif TC"/>
              </a:rPr>
              <a:t>熱門點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78608"/>
            <a:ext cx="265176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A2019"/>
                </a:solidFill>
                <a:latin typeface="Noto Sans TC"/>
              </a:rPr>
              <a:t>大三巴／議事亭／路氹
擠迫、排隊、同質體驗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58768"/>
            <a:ext cx="265176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95D50"/>
                </a:solidFill>
                <a:latin typeface="Noto Sans TC"/>
              </a:rPr>
              <a:t>遊客：體驗下降
城市：承載失衡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63240"/>
            <a:ext cx="59436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C2912E"/>
                </a:solidFill>
                <a:latin typeface="Noto Sans T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737360"/>
            <a:ext cx="3291840" cy="3611880"/>
          </a:xfrm>
          <a:prstGeom prst="roundRect">
            <a:avLst/>
          </a:prstGeom>
          <a:solidFill>
            <a:srgbClr val="EDF6F1"/>
          </a:solidFill>
          <a:ln>
            <a:solidFill>
              <a:srgbClr val="B5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2011680"/>
            <a:ext cx="265176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3E8E5A"/>
                </a:solidFill>
                <a:latin typeface="Noto Serif TC"/>
              </a:rPr>
              <a:t>舊區與小店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578608"/>
            <a:ext cx="269748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A2019"/>
                </a:solidFill>
                <a:latin typeface="Noto Sans TC"/>
              </a:rPr>
              <a:t>福隆新街／內港／下環
有文化、有故事、缺客流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3858768"/>
            <a:ext cx="269748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95D50"/>
                </a:solidFill>
                <a:latin typeface="Noto Sans TC"/>
              </a:rPr>
              <a:t>社區：活力流失
商戶：難量度導流價值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1737360"/>
            <a:ext cx="2880360" cy="3611880"/>
          </a:xfrm>
          <a:prstGeom prst="roundRect">
            <a:avLst/>
          </a:prstGeom>
          <a:solidFill>
            <a:srgbClr val="263F52"/>
          </a:solidFill>
          <a:ln>
            <a:solidFill>
              <a:srgbClr val="26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2011680"/>
            <a:ext cx="23317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3D184"/>
                </a:solidFill>
                <a:latin typeface="Noto Serif TC"/>
              </a:rPr>
              <a:t>AI 的任務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651760"/>
            <a:ext cx="2240280" cy="1645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</a:pPr>
            <a:r>
              <a:rPr b="1" sz="1500">
                <a:solidFill>
                  <a:srgbClr val="BE4A3A"/>
                </a:solidFill>
                <a:latin typeface="Noto Sans TC"/>
              </a:rPr>
              <a:t>不是：</a:t>
            </a:r>
            <a:r>
              <a:rPr sz="1500">
                <a:solidFill>
                  <a:srgbClr val="FFFFFF"/>
                </a:solidFill>
                <a:latin typeface="Noto Sans TC"/>
              </a:rPr>
              <a:t>再做一個熱門榜單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b="1" sz="1500">
                <a:solidFill>
                  <a:srgbClr val="BE4A3A"/>
                </a:solidFill>
                <a:latin typeface="Noto Sans TC"/>
              </a:rPr>
              <a:t>而是：</a:t>
            </a:r>
            <a:r>
              <a:rPr sz="1500">
                <a:solidFill>
                  <a:srgbClr val="FFFFFF"/>
                </a:solidFill>
                <a:latin typeface="Noto Sans TC"/>
              </a:rPr>
              <a:t>在限制條件下主動導流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b="1" sz="1500">
                <a:solidFill>
                  <a:srgbClr val="BE4A3A"/>
                </a:solidFill>
                <a:latin typeface="Noto Sans TC"/>
              </a:rPr>
              <a:t>最後：</a:t>
            </a:r>
            <a:r>
              <a:rPr sz="1500">
                <a:solidFill>
                  <a:srgbClr val="FFFFFF"/>
                </a:solidFill>
                <a:latin typeface="Noto Sans TC"/>
              </a:rPr>
              <a:t>量度到訪與轉化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779008"/>
            <a:ext cx="108813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BE4A3A"/>
                </a:solidFill>
                <a:latin typeface="Noto Serif TC"/>
              </a:rPr>
              <a:t>遊客 × 小店 × 城市三方共贏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95D50"/>
                </a:solidFill>
                <a:latin typeface="Noto Sans TC"/>
              </a:rPr>
              <a:t>街知巷聞 EveryLane Macau  ·  愛拼才會贏  ·  施天益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6510528"/>
            <a:ext cx="2788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95D50"/>
                </a:solidFill>
                <a:latin typeface="Noto Sans TC"/>
              </a:rPr>
              <a:t>http://47.79.228.128/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9611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C5E86"/>
                </a:solidFill>
                <a:latin typeface="Noto Sans TC"/>
              </a:rPr>
              <a:t>02 ·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A2019"/>
                </a:solidFill>
                <a:latin typeface="Noto Serif TC"/>
              </a:rPr>
              <a:t>一句需求 → 一份可驗證、可執行、可導流的行程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95D50"/>
                </a:solidFill>
                <a:latin typeface="Noto Sans T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60120" cy="36576"/>
          </a:xfrm>
          <a:prstGeom prst="rect">
            <a:avLst/>
          </a:prstGeom>
          <a:solidFill>
            <a:srgbClr val="BE4A3A"/>
          </a:solidFill>
          <a:ln>
            <a:solidFill>
              <a:srgbClr val="BE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itinerary_access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64208"/>
            <a:ext cx="6903720" cy="43159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783080"/>
            <a:ext cx="3657600" cy="3063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lnSpc>
                <a:spcPct val="114000"/>
              </a:lnSpc>
              <a:spcAft>
                <a:spcPts val="1000"/>
              </a:spcAft>
            </a:pPr>
            <a:r>
              <a:rPr b="1" sz="1600">
                <a:solidFill>
                  <a:srgbClr val="BE4A3A"/>
                </a:solidFill>
                <a:latin typeface="Noto Sans TC"/>
              </a:rPr>
              <a:t>理解：</a:t>
            </a:r>
            <a:r>
              <a:rPr sz="1600">
                <a:solidFill>
                  <a:srgbClr val="2A2019"/>
                </a:solidFill>
                <a:latin typeface="Noto Sans TC"/>
              </a:rPr>
              <a:t>日期、人數、興趣、預算、步行偏好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b="1" sz="1600">
                <a:solidFill>
                  <a:srgbClr val="BE4A3A"/>
                </a:solidFill>
                <a:latin typeface="Noto Sans TC"/>
              </a:rPr>
              <a:t>執行：</a:t>
            </a:r>
            <a:r>
              <a:rPr sz="1600">
                <a:solidFill>
                  <a:srgbClr val="2A2019"/>
                </a:solidFill>
                <a:latin typeface="Noto Sans TC"/>
              </a:rPr>
              <a:t>查天氣、開放、人流、路線與預算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b="1" sz="1600">
                <a:solidFill>
                  <a:srgbClr val="BE4A3A"/>
                </a:solidFill>
                <a:latin typeface="Noto Sans TC"/>
              </a:rPr>
              <a:t>恢復：</a:t>
            </a:r>
            <a:r>
              <a:rPr sz="1600">
                <a:solidFill>
                  <a:srgbClr val="2A2019"/>
                </a:solidFill>
                <a:latin typeface="Noto Sans TC"/>
              </a:rPr>
              <a:t>休息日換點；擁擠時導向附近老街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b="1" sz="1600">
                <a:solidFill>
                  <a:srgbClr val="BE4A3A"/>
                </a:solidFill>
                <a:latin typeface="Noto Sans TC"/>
              </a:rPr>
              <a:t>驗證：</a:t>
            </a:r>
            <a:r>
              <a:rPr sz="1600">
                <a:solidFill>
                  <a:srgbClr val="2A2019"/>
                </a:solidFill>
                <a:latin typeface="Noto Sans TC"/>
              </a:rPr>
              <a:t>地圖、時間軸、條件核對、無障礙資訊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b="1" sz="1600">
                <a:solidFill>
                  <a:srgbClr val="BE4A3A"/>
                </a:solidFill>
                <a:latin typeface="Noto Sans TC"/>
              </a:rPr>
              <a:t>歸因：</a:t>
            </a:r>
            <a:r>
              <a:rPr sz="1600">
                <a:solidFill>
                  <a:srgbClr val="2A2019"/>
                </a:solidFill>
                <a:latin typeface="Noto Sans TC"/>
              </a:rPr>
              <a:t>本地商戶站點可領一次性到店碼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5138928"/>
            <a:ext cx="2057400" cy="347472"/>
          </a:xfrm>
          <a:prstGeom prst="roundRect">
            <a:avLst/>
          </a:prstGeom>
          <a:solidFill>
            <a:srgbClr val="F5E7C8"/>
          </a:solidFill>
          <a:ln>
            <a:solidFill>
              <a:srgbClr val="F5E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5212080"/>
            <a:ext cx="1911095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5C4119"/>
                </a:solidFill>
                <a:latin typeface="Noto Sans TC"/>
              </a:rPr>
              <a:t>90 秒評審快速演示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40112" y="5138928"/>
            <a:ext cx="1417320" cy="347472"/>
          </a:xfrm>
          <a:prstGeom prst="roundRect">
            <a:avLst/>
          </a:prstGeom>
          <a:solidFill>
            <a:srgbClr val="E6F1F8"/>
          </a:solidFill>
          <a:ln>
            <a:solidFill>
              <a:srgbClr val="E6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13264" y="5212080"/>
            <a:ext cx="127101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2C5E86"/>
                </a:solidFill>
                <a:latin typeface="Noto Sans TC"/>
              </a:rPr>
              <a:t>自訂問題：真實 Qwen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95D50"/>
                </a:solidFill>
                <a:latin typeface="Noto Sans TC"/>
              </a:rPr>
              <a:t>街知巷聞 EveryLane Macau  ·  愛拼才會贏  ·  施天益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510528"/>
            <a:ext cx="2788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95D50"/>
                </a:solidFill>
                <a:latin typeface="Noto Sans TC"/>
              </a:rPr>
              <a:t>http://47.79.228.128/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9611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C5E86"/>
                </a:solidFill>
                <a:latin typeface="Noto Sans TC"/>
              </a:rPr>
              <a:t>03 · AGENT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A2019"/>
                </a:solidFill>
                <a:latin typeface="Noto Serif TC"/>
              </a:rPr>
              <a:t>Qwen 做決策，工具做事實，安全層決定能否提交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95D50"/>
                </a:solidFill>
                <a:latin typeface="Noto Sans T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60120" cy="36576"/>
          </a:xfrm>
          <a:prstGeom prst="rect">
            <a:avLst/>
          </a:prstGeom>
          <a:solidFill>
            <a:srgbClr val="BE4A3A"/>
          </a:solidFill>
          <a:ln>
            <a:solidFill>
              <a:srgbClr val="BE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82496"/>
            <a:ext cx="10332720" cy="603504"/>
          </a:xfrm>
          <a:prstGeom prst="roundRect">
            <a:avLst/>
          </a:prstGeom>
          <a:solidFill>
            <a:srgbClr val="263F52"/>
          </a:solidFill>
          <a:ln>
            <a:solidFill>
              <a:srgbClr val="26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10512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TC"/>
              </a:rPr>
              <a:t>Qwen / QwenPaw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810512"/>
            <a:ext cx="7543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Noto Sans TC"/>
              </a:rPr>
              <a:t>理解需求 · ReAct 決策 · function calling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286000"/>
            <a:ext cx="7315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695D50"/>
                </a:solidFill>
                <a:latin typeface="Noto Sans TC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87168"/>
            <a:ext cx="10332720" cy="603504"/>
          </a:xfrm>
          <a:prstGeom prst="roundRect">
            <a:avLst/>
          </a:prstGeom>
          <a:solidFill>
            <a:srgbClr val="2C5E86"/>
          </a:solidFill>
          <a:ln>
            <a:solidFill>
              <a:srgbClr val="2C5E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615184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TC"/>
              </a:rPr>
              <a:t>EveryLane 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615184"/>
            <a:ext cx="7543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Noto Sans TC"/>
              </a:rPr>
              <a:t>阿濠人設 · 舊區導流目標 · 失敗恢復規則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090672"/>
            <a:ext cx="7315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695D50"/>
                </a:solidFill>
                <a:latin typeface="Noto Sans TC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91840"/>
            <a:ext cx="10332720" cy="603504"/>
          </a:xfrm>
          <a:prstGeom prst="roundRect">
            <a:avLst/>
          </a:prstGeom>
          <a:solidFill>
            <a:srgbClr val="BE4A3A"/>
          </a:solidFill>
          <a:ln>
            <a:solidFill>
              <a:srgbClr val="BE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419856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TC"/>
              </a:rPr>
              <a:t>stdio MCP 7+1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419856"/>
            <a:ext cx="7543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Noto Sans TC"/>
              </a:rPr>
              <a:t>搜尋 · 天氣 · 開放 · 人流 · 本地點 · 路線 · 預算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895344"/>
            <a:ext cx="7315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695D50"/>
                </a:solidFill>
                <a:latin typeface="Noto Sans TC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096512"/>
            <a:ext cx="10332720" cy="603504"/>
          </a:xfrm>
          <a:prstGeom prst="roundRect">
            <a:avLst/>
          </a:prstGeom>
          <a:solidFill>
            <a:srgbClr val="C2912E"/>
          </a:solidFill>
          <a:ln>
            <a:solidFill>
              <a:srgbClr val="C291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224528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A2019"/>
                </a:solidFill>
                <a:latin typeface="Noto Sans TC"/>
              </a:rPr>
              <a:t>確定性核對器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224528"/>
            <a:ext cx="7543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A2019"/>
                </a:solidFill>
                <a:latin typeface="Noto Sans TC"/>
              </a:rPr>
              <a:t>同區 · 當日開放 · 少步行 · 預算 · 結構化提交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700016"/>
            <a:ext cx="7315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695D50"/>
                </a:solidFill>
                <a:latin typeface="Noto Sans TC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901184"/>
            <a:ext cx="10332720" cy="603504"/>
          </a:xfrm>
          <a:prstGeom prst="roundRect">
            <a:avLst/>
          </a:prstGeom>
          <a:solidFill>
            <a:srgbClr val="3E8E5A"/>
          </a:solidFill>
          <a:ln>
            <a:solidFill>
              <a:srgbClr val="3E8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029200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TC"/>
              </a:rPr>
              <a:t>產品輸出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5029200"/>
            <a:ext cx="7543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Noto Sans TC"/>
              </a:rPr>
              <a:t>SSE 軌跡 · 地圖時間軸 · 到店碼 · B 端 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16168"/>
            <a:ext cx="103327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BE4A3A"/>
                </a:solidFill>
                <a:latin typeface="Noto Sans TC"/>
              </a:rPr>
              <a:t>核心原則：模型不能杜撰開放、人流、距離與預算；未完成工具核對就不能 submit。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95D50"/>
                </a:solidFill>
                <a:latin typeface="Noto Sans TC"/>
              </a:rPr>
              <a:t>街知巷聞 EveryLane Macau  ·  愛拼才會贏  ·  施天益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6510528"/>
            <a:ext cx="2788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95D50"/>
                </a:solidFill>
                <a:latin typeface="Noto Sans TC"/>
              </a:rPr>
              <a:t>http://47.79.228.128/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9611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C5E86"/>
                </a:solidFill>
                <a:latin typeface="Noto Sans TC"/>
              </a:rPr>
              <a:t>04 · FAILURE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A2019"/>
                </a:solidFill>
                <a:latin typeface="Noto Serif TC"/>
              </a:rPr>
              <a:t>智能體的價值，不在順境推薦，而在限制衝突時仍完成任務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95D50"/>
                </a:solidFill>
                <a:latin typeface="Noto Sans T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60120" cy="36576"/>
          </a:xfrm>
          <a:prstGeom prst="rect">
            <a:avLst/>
          </a:prstGeom>
          <a:solidFill>
            <a:srgbClr val="BE4A3A"/>
          </a:solidFill>
          <a:ln>
            <a:solidFill>
              <a:srgbClr val="BE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19072"/>
            <a:ext cx="3017520" cy="3474720"/>
          </a:xfrm>
          <a:prstGeom prst="roundRect">
            <a:avLst/>
          </a:prstGeom>
          <a:solidFill>
            <a:srgbClr val="FFFDF8"/>
          </a:solidFill>
          <a:ln>
            <a:solidFill>
              <a:srgbClr val="E1D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5603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63F52"/>
                </a:solidFill>
                <a:latin typeface="Noto Sans TC"/>
              </a:rPr>
              <a:t>使用者要求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51460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A2019"/>
                </a:solidFill>
                <a:latin typeface="Noto Serif TC"/>
              </a:rPr>
              <a:t>「星期三想去鄭家大屋
同附近歷史老街」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041648"/>
            <a:ext cx="2011680" cy="347472"/>
          </a:xfrm>
          <a:prstGeom prst="roundRect">
            <a:avLst/>
          </a:prstGeom>
          <a:solidFill>
            <a:srgbClr val="E7F0F6"/>
          </a:solidFill>
          <a:ln>
            <a:solidFill>
              <a:srgbClr val="E7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114800"/>
            <a:ext cx="18653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2C5E86"/>
                </a:solidFill>
                <a:latin typeface="Noto Sans TC"/>
              </a:rPr>
              <a:t>日期 + 指名 POI + 興趣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91" y="2971800"/>
            <a:ext cx="502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C2912E"/>
                </a:solidFill>
                <a:latin typeface="Noto Sans T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19072"/>
            <a:ext cx="3017520" cy="3474720"/>
          </a:xfrm>
          <a:prstGeom prst="roundRect">
            <a:avLst/>
          </a:prstGeom>
          <a:solidFill>
            <a:srgbClr val="FCEDE6"/>
          </a:solidFill>
          <a:ln>
            <a:solidFill>
              <a:srgbClr val="EBC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965960"/>
            <a:ext cx="25603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BE4A3A"/>
                </a:solidFill>
                <a:latin typeface="Noto Sans TC"/>
              </a:rPr>
              <a:t>工具發現衝突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78608"/>
            <a:ext cx="246888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2A2019"/>
                </a:solidFill>
                <a:latin typeface="Noto Serif TC"/>
              </a:rPr>
              <a:t>check_opening
鄭家大屋：逢週三休息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041648"/>
            <a:ext cx="1554480" cy="347472"/>
          </a:xfrm>
          <a:prstGeom prst="roundRect">
            <a:avLst/>
          </a:prstGeom>
          <a:solidFill>
            <a:srgbClr val="F8DCD7"/>
          </a:solidFill>
          <a:ln>
            <a:solidFill>
              <a:srgbClr val="F8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4114800"/>
            <a:ext cx="14081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BE4A3A"/>
                </a:solidFill>
                <a:latin typeface="Noto Sans TC"/>
              </a:rPr>
              <a:t>不可直接提交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1" y="2971800"/>
            <a:ext cx="502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C2912E"/>
                </a:solidFill>
                <a:latin typeface="Noto Sans T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719072"/>
            <a:ext cx="3310128" cy="3474720"/>
          </a:xfrm>
          <a:prstGeom prst="roundRect">
            <a:avLst/>
          </a:prstGeom>
          <a:solidFill>
            <a:srgbClr val="EDF6F1"/>
          </a:solidFill>
          <a:ln>
            <a:solidFill>
              <a:srgbClr val="B5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965960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3E8E5A"/>
                </a:solidFill>
                <a:latin typeface="Noto Sans TC"/>
              </a:rPr>
              <a:t>自動恢復並重算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514600"/>
            <a:ext cx="2697480" cy="11430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A2019"/>
                </a:solidFill>
                <a:latin typeface="Noto Serif TC"/>
              </a:rPr>
              <a:t>同區找開放替代點
重新算路線、人流與預算
最後才提交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4187952"/>
            <a:ext cx="1920240" cy="347472"/>
          </a:xfrm>
          <a:prstGeom prst="roundRect">
            <a:avLst/>
          </a:prstGeom>
          <a:solidFill>
            <a:srgbClr val="DAEFE2"/>
          </a:solidFill>
          <a:ln>
            <a:solidFill>
              <a:srgbClr val="DA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4261104"/>
            <a:ext cx="17739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3E8E5A"/>
                </a:solidFill>
                <a:latin typeface="Noto Sans TC"/>
              </a:rPr>
              <a:t>任務仍完整完成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669280"/>
            <a:ext cx="1078992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BE4A3A"/>
                </a:solidFill>
                <a:latin typeface="Noto Serif TC"/>
              </a:rPr>
              <a:t>規劃 → 工具 → 觀察 → 修正 → 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95D50"/>
                </a:solidFill>
                <a:latin typeface="Noto Sans TC"/>
              </a:rPr>
              <a:t>街知巷聞 EveryLane Macau  ·  愛拼才會贏  ·  施天益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6510528"/>
            <a:ext cx="2788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95D50"/>
                </a:solidFill>
                <a:latin typeface="Noto Sans TC"/>
              </a:rPr>
              <a:t>http://47.79.228.128/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9611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C5E86"/>
                </a:solidFill>
                <a:latin typeface="Noto Sans TC"/>
              </a:rPr>
              <a:t>05 · FROM RECOMMENDATION TO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A2019"/>
                </a:solidFill>
                <a:latin typeface="Noto Serif TC"/>
              </a:rPr>
              <a:t>第一次把「推薦舊區」做成可核銷的商業閉環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95D50"/>
                </a:solidFill>
                <a:latin typeface="Noto Sans TC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60120" cy="36576"/>
          </a:xfrm>
          <a:prstGeom prst="rect">
            <a:avLst/>
          </a:prstGeom>
          <a:solidFill>
            <a:srgbClr val="BE4A3A"/>
          </a:solidFill>
          <a:ln>
            <a:solidFill>
              <a:srgbClr val="BE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dashboard_rede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64208"/>
            <a:ext cx="6995160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09560" y="1755648"/>
            <a:ext cx="438912" cy="438912"/>
          </a:xfrm>
          <a:prstGeom prst="roundRect">
            <a:avLst/>
          </a:prstGeom>
          <a:solidFill>
            <a:srgbClr val="BE4A3A"/>
          </a:solidFill>
          <a:ln>
            <a:solidFill>
              <a:srgbClr val="BE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847088"/>
            <a:ext cx="43891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755648"/>
            <a:ext cx="24688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A2019"/>
                </a:solidFill>
                <a:latin typeface="Noto Sans TC"/>
              </a:rPr>
              <a:t>行程導流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075688"/>
            <a:ext cx="26060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5D50"/>
                </a:solidFill>
                <a:latin typeface="Noto Sans TC"/>
              </a:rPr>
              <a:t>本地商戶成為行程站點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743200"/>
            <a:ext cx="438912" cy="438912"/>
          </a:xfrm>
          <a:prstGeom prst="roundRect">
            <a:avLst/>
          </a:prstGeom>
          <a:solidFill>
            <a:srgbClr val="BE4A3A"/>
          </a:solidFill>
          <a:ln>
            <a:solidFill>
              <a:srgbClr val="BE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2834640"/>
            <a:ext cx="43891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743200"/>
            <a:ext cx="24688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A2019"/>
                </a:solidFill>
                <a:latin typeface="Noto Sans TC"/>
              </a:rPr>
              <a:t>遊客領碼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063240"/>
            <a:ext cx="26060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5D50"/>
                </a:solidFill>
                <a:latin typeface="Noto Sans TC"/>
              </a:rPr>
              <a:t>EL-XXXX-XX 一次性碼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730752"/>
            <a:ext cx="438912" cy="438912"/>
          </a:xfrm>
          <a:prstGeom prst="roundRect">
            <a:avLst/>
          </a:prstGeom>
          <a:solidFill>
            <a:srgbClr val="BE4A3A"/>
          </a:solidFill>
          <a:ln>
            <a:solidFill>
              <a:srgbClr val="BE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3822191"/>
            <a:ext cx="43891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730752"/>
            <a:ext cx="24688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A2019"/>
                </a:solidFill>
                <a:latin typeface="Noto Sans TC"/>
              </a:rPr>
              <a:t>到店核銷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050791"/>
            <a:ext cx="26060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5D50"/>
                </a:solidFill>
                <a:latin typeface="Noto Sans TC"/>
              </a:rPr>
              <a:t>第一次成功，第二次拒絕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4718304"/>
            <a:ext cx="438912" cy="438912"/>
          </a:xfrm>
          <a:prstGeom prst="roundRect">
            <a:avLst/>
          </a:prstGeom>
          <a:solidFill>
            <a:srgbClr val="BE4A3A"/>
          </a:solidFill>
          <a:ln>
            <a:solidFill>
              <a:srgbClr val="BE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4809744"/>
            <a:ext cx="43891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718304"/>
            <a:ext cx="24688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A2019"/>
                </a:solidFill>
                <a:latin typeface="Noto Sans TC"/>
              </a:rPr>
              <a:t>效果結算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5038344"/>
            <a:ext cx="26060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5D50"/>
                </a:solidFill>
                <a:latin typeface="Noto Sans TC"/>
              </a:rPr>
              <a:t>由曝光轉為可量度到訪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5669280"/>
            <a:ext cx="338328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E4A3A"/>
                </a:solidFill>
                <a:latin typeface="Noto Sans TC"/>
              </a:rPr>
              <a:t>功能是真實可操作；累計轉化數據按賽規使用示範數據並明確標註。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95D50"/>
                </a:solidFill>
                <a:latin typeface="Noto Sans TC"/>
              </a:rPr>
              <a:t>街知巷聞 EveryLane Macau  ·  愛拼才會贏  ·  施天益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6510528"/>
            <a:ext cx="2788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95D50"/>
                </a:solidFill>
                <a:latin typeface="Noto Sans TC"/>
              </a:rPr>
              <a:t>http://47.79.228.128/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9611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C5E86"/>
                </a:solidFill>
                <a:latin typeface="Noto Sans TC"/>
              </a:rPr>
              <a:t>06 ·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A2019"/>
                </a:solidFill>
                <a:latin typeface="Noto Serif TC"/>
              </a:rPr>
              <a:t>計劃書 9/9 項逐一呈現，但不把示範數據冒充田野研究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95D50"/>
                </a:solidFill>
                <a:latin typeface="Noto Sans TC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60120" cy="36576"/>
          </a:xfrm>
          <a:prstGeom prst="rect">
            <a:avLst/>
          </a:prstGeom>
          <a:solidFill>
            <a:srgbClr val="BE4A3A"/>
          </a:solidFill>
          <a:ln>
            <a:solidFill>
              <a:srgbClr val="BE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9344"/>
            <a:ext cx="4114800" cy="347472"/>
          </a:xfrm>
          <a:prstGeom prst="roundRect">
            <a:avLst/>
          </a:prstGeom>
          <a:solidFill>
            <a:srgbClr val="FFF3DB"/>
          </a:solidFill>
          <a:ln>
            <a:solidFill>
              <a:srgbClr val="FFF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682496"/>
            <a:ext cx="396849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745318"/>
                </a:solidFill>
                <a:latin typeface="Noto Sans TC"/>
              </a:rPr>
              <a:t>以下為複賽示範數據 · 口徑、公式、種子可下載核驗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12848"/>
            <a:ext cx="1965960" cy="987552"/>
          </a:xfrm>
          <a:prstGeom prst="roundRect">
            <a:avLst/>
          </a:prstGeom>
          <a:solidFill>
            <a:srgbClr val="FFFDF8"/>
          </a:solidFill>
          <a:ln>
            <a:solidFill>
              <a:srgbClr val="E1D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50008"/>
            <a:ext cx="1746504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BE4A3A"/>
                </a:solidFill>
                <a:latin typeface="Noto Serif TC"/>
              </a:rPr>
              <a:t>86.4%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816352"/>
            <a:ext cx="1746504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95D50"/>
                </a:solidFill>
                <a:latin typeface="Noto Sans TC"/>
              </a:rPr>
              <a:t>導流覆蓋率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2212848"/>
            <a:ext cx="1965960" cy="987552"/>
          </a:xfrm>
          <a:prstGeom prst="roundRect">
            <a:avLst/>
          </a:prstGeom>
          <a:solidFill>
            <a:srgbClr val="FFFDF8"/>
          </a:solidFill>
          <a:ln>
            <a:solidFill>
              <a:srgbClr val="E1D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1216" y="2350008"/>
            <a:ext cx="1746504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BE4A3A"/>
                </a:solidFill>
                <a:latin typeface="Noto Serif TC"/>
              </a:rPr>
              <a:t>98.9%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6" y="2816352"/>
            <a:ext cx="1746504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95D50"/>
                </a:solidFill>
                <a:latin typeface="Noto Sans TC"/>
              </a:rPr>
              <a:t>路線可行率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4608" y="2212848"/>
            <a:ext cx="1965960" cy="987552"/>
          </a:xfrm>
          <a:prstGeom prst="roundRect">
            <a:avLst/>
          </a:prstGeom>
          <a:solidFill>
            <a:srgbClr val="FFFDF8"/>
          </a:solidFill>
          <a:ln>
            <a:solidFill>
              <a:srgbClr val="E1D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74336" y="2350008"/>
            <a:ext cx="1746504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BE4A3A"/>
                </a:solidFill>
                <a:latin typeface="Noto Serif TC"/>
              </a:rPr>
              <a:t>41.8%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2816352"/>
            <a:ext cx="1746504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95D50"/>
                </a:solidFill>
                <a:latin typeface="Noto Sans TC"/>
              </a:rPr>
              <a:t>商戶到訪率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67728" y="2212848"/>
            <a:ext cx="1965960" cy="987552"/>
          </a:xfrm>
          <a:prstGeom prst="roundRect">
            <a:avLst/>
          </a:prstGeom>
          <a:solidFill>
            <a:srgbClr val="FFFDF8"/>
          </a:solidFill>
          <a:ln>
            <a:solidFill>
              <a:srgbClr val="E1D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77456" y="2350008"/>
            <a:ext cx="1746504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BE4A3A"/>
                </a:solidFill>
                <a:latin typeface="Noto Serif TC"/>
              </a:rP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2816352"/>
            <a:ext cx="1746504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95D50"/>
                </a:solidFill>
                <a:latin typeface="Noto Sans TC"/>
              </a:rPr>
              <a:t>任務完成率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0848" y="2212848"/>
            <a:ext cx="1965960" cy="987552"/>
          </a:xfrm>
          <a:prstGeom prst="roundRect">
            <a:avLst/>
          </a:prstGeom>
          <a:solidFill>
            <a:srgbClr val="FFFDF8"/>
          </a:solidFill>
          <a:ln>
            <a:solidFill>
              <a:srgbClr val="E1D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0576" y="2350008"/>
            <a:ext cx="1746504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BE4A3A"/>
                </a:solidFill>
                <a:latin typeface="Noto Serif TC"/>
              </a:rPr>
              <a:t>4.2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2816352"/>
            <a:ext cx="1746504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95D50"/>
                </a:solidFill>
                <a:latin typeface="Noto Sans TC"/>
              </a:rPr>
              <a:t>平均舊區/商戶點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703320"/>
            <a:ext cx="5321808" cy="1417320"/>
          </a:xfrm>
          <a:prstGeom prst="roundRect">
            <a:avLst/>
          </a:prstGeom>
          <a:solidFill>
            <a:srgbClr val="EDF6F1"/>
          </a:solidFill>
          <a:ln>
            <a:solidFill>
              <a:srgbClr val="B5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950208"/>
            <a:ext cx="23774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E8E5A"/>
                </a:solidFill>
                <a:latin typeface="Noto Sans TC"/>
              </a:rPr>
              <a:t>真實・即時可核驗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407408"/>
            <a:ext cx="45720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A2019"/>
                </a:solidFill>
                <a:latin typeface="Noto Sans TC"/>
              </a:rPr>
              <a:t>Qwen / 工具鏈 · Open-Meteo · 到店碼 · B 端 API
70 POI · 無障礙 · 自動化測試 · 系統 uptime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3703320"/>
            <a:ext cx="5074920" cy="1417320"/>
          </a:xfrm>
          <a:prstGeom prst="roundRect">
            <a:avLst/>
          </a:prstGeom>
          <a:solidFill>
            <a:srgbClr val="FFF3DB"/>
          </a:solidFill>
          <a:ln>
            <a:solidFill>
              <a:srgbClr val="E8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950208"/>
            <a:ext cx="26517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745318"/>
                </a:solidFill>
                <a:latin typeface="Noto Sans TC"/>
              </a:rPr>
              <a:t>示範・確定性生成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407408"/>
            <a:ext cx="443484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A2019"/>
                </a:solidFill>
                <a:latin typeface="Noto Sans TC"/>
              </a:rPr>
              <a:t>可用性 · 累計轉化 · 區域熱度 · 模型校正
不宣稱真實；/api/impact/evidence 可審計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650992"/>
            <a:ext cx="1060704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63F52"/>
                </a:solidFill>
                <a:latin typeface="Noto Serif TC"/>
              </a:rPr>
              <a:t>透明不是減分項；把限制講清楚，才是可落地 AI 的基本功。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95D50"/>
                </a:solidFill>
                <a:latin typeface="Noto Sans TC"/>
              </a:rPr>
              <a:t>街知巷聞 EveryLane Macau  ·  愛拼才會贏  ·  施天益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6510528"/>
            <a:ext cx="2788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95D50"/>
                </a:solidFill>
                <a:latin typeface="Noto Sans TC"/>
              </a:rPr>
              <a:t>http://47.79.228.128/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9611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C5E86"/>
                </a:solidFill>
                <a:latin typeface="Noto Sans TC"/>
              </a:rPr>
              <a:t>07 · BUSINESS &amp;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A2019"/>
                </a:solidFill>
                <a:latin typeface="Noto Serif TC"/>
              </a:rPr>
              <a:t>一套導流能力，三條清晰變現路徑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95D50"/>
                </a:solidFill>
                <a:latin typeface="Noto Sans TC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60120" cy="36576"/>
          </a:xfrm>
          <a:prstGeom prst="rect">
            <a:avLst/>
          </a:prstGeom>
          <a:solidFill>
            <a:srgbClr val="BE4A3A"/>
          </a:solidFill>
          <a:ln>
            <a:solidFill>
              <a:srgbClr val="BE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429000" cy="2423160"/>
          </a:xfrm>
          <a:prstGeom prst="roundRect">
            <a:avLst/>
          </a:prstGeom>
          <a:solidFill>
            <a:srgbClr val="FFFDF8"/>
          </a:solidFill>
          <a:ln>
            <a:solidFill>
              <a:srgbClr val="E1D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3429000" cy="109728"/>
          </a:xfrm>
          <a:prstGeom prst="rect">
            <a:avLst/>
          </a:prstGeom>
          <a:solidFill>
            <a:srgbClr val="BE4A3A"/>
          </a:solidFill>
          <a:ln>
            <a:solidFill>
              <a:srgbClr val="BE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84831"/>
            <a:ext cx="28346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BE4A3A"/>
                </a:solidFill>
                <a:latin typeface="Noto Serif TC"/>
              </a:rPr>
              <a:t>商戶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97480"/>
            <a:ext cx="283464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A2019"/>
                </a:solidFill>
                <a:latin typeface="Noto Sans TC"/>
              </a:rPr>
              <a:t>精選訂閱／按核銷效果付費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493008"/>
            <a:ext cx="28346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95D50"/>
                </a:solidFill>
                <a:latin typeface="Noto Sans TC"/>
              </a:rPr>
              <a:t>到店碼是結算依據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83080"/>
            <a:ext cx="3429000" cy="2423160"/>
          </a:xfrm>
          <a:prstGeom prst="roundRect">
            <a:avLst/>
          </a:prstGeom>
          <a:solidFill>
            <a:srgbClr val="FFFDF8"/>
          </a:solidFill>
          <a:ln>
            <a:solidFill>
              <a:srgbClr val="E1D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3429000" cy="109728"/>
          </a:xfrm>
          <a:prstGeom prst="rect">
            <a:avLst/>
          </a:prstGeom>
          <a:solidFill>
            <a:srgbClr val="2C5E86"/>
          </a:solidFill>
          <a:ln>
            <a:solidFill>
              <a:srgbClr val="2C5E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084831"/>
            <a:ext cx="28346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C5E86"/>
                </a:solidFill>
                <a:latin typeface="Noto Serif TC"/>
              </a:rPr>
              <a:t>酒店／旅行社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697480"/>
            <a:ext cx="283464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A2019"/>
                </a:solidFill>
                <a:latin typeface="Noto Sans TC"/>
              </a:rPr>
              <a:t>白標行程 API 授權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493008"/>
            <a:ext cx="28346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95D50"/>
                </a:solidFill>
                <a:latin typeface="Noto Sans TC"/>
              </a:rPr>
              <a:t>已上線 v1 API + 歸因 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783080"/>
            <a:ext cx="3429000" cy="2423160"/>
          </a:xfrm>
          <a:prstGeom prst="roundRect">
            <a:avLst/>
          </a:prstGeom>
          <a:solidFill>
            <a:srgbClr val="FFFDF8"/>
          </a:solidFill>
          <a:ln>
            <a:solidFill>
              <a:srgbClr val="E1D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1783080"/>
            <a:ext cx="3429000" cy="109728"/>
          </a:xfrm>
          <a:prstGeom prst="rect">
            <a:avLst/>
          </a:prstGeom>
          <a:solidFill>
            <a:srgbClr val="3E8E5A"/>
          </a:solidFill>
          <a:ln>
            <a:solidFill>
              <a:srgbClr val="3E8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2084831"/>
            <a:ext cx="28346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3E8E5A"/>
                </a:solidFill>
                <a:latin typeface="Noto Serif TC"/>
              </a:rPr>
              <a:t>文旅部門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2697480"/>
            <a:ext cx="283464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A2019"/>
                </a:solidFill>
                <a:latin typeface="Noto Sans TC"/>
              </a:rPr>
              <a:t>匿名化區域熱度儀表板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3493008"/>
            <a:ext cx="28346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95D50"/>
                </a:solidFill>
                <a:latin typeface="Noto Sans TC"/>
              </a:rPr>
              <a:t>監測承載與舊區活化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63440"/>
            <a:ext cx="3840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263F52"/>
                </a:solidFill>
                <a:latin typeface="Noto Serif TC"/>
              </a:rPr>
              <a:t>為什麼不是一般旅遊聊天機械人？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02352"/>
            <a:ext cx="10515600" cy="8686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1" sz="1400">
                <a:solidFill>
                  <a:srgbClr val="BE4A3A"/>
                </a:solidFill>
                <a:latin typeface="Noto Sans TC"/>
              </a:rPr>
              <a:t>差異化資料：</a:t>
            </a:r>
            <a:r>
              <a:rPr sz="1400">
                <a:solidFill>
                  <a:srgbClr val="2A2019"/>
                </a:solidFill>
                <a:latin typeface="Noto Sans TC"/>
              </a:rPr>
              <a:t>舊區/商戶、人流、開放、無障礙與故事層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1" sz="1400">
                <a:solidFill>
                  <a:srgbClr val="BE4A3A"/>
                </a:solidFill>
                <a:latin typeface="Noto Sans TC"/>
              </a:rPr>
              <a:t>差異化決策：</a:t>
            </a:r>
            <a:r>
              <a:rPr sz="1400">
                <a:solidFill>
                  <a:srgbClr val="2A2019"/>
                </a:solidFill>
                <a:latin typeface="Noto Sans TC"/>
              </a:rPr>
              <a:t>以承載平衡而非熱門度排序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1" sz="1400">
                <a:solidFill>
                  <a:srgbClr val="BE4A3A"/>
                </a:solidFill>
                <a:latin typeface="Noto Sans TC"/>
              </a:rPr>
              <a:t>差異化閉環：</a:t>
            </a:r>
            <a:r>
              <a:rPr sz="1400">
                <a:solidFill>
                  <a:srgbClr val="2A2019"/>
                </a:solidFill>
                <a:latin typeface="Noto Sans TC"/>
              </a:rPr>
              <a:t>推薦 → 到訪 → 核銷 → 成效歸因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95D50"/>
                </a:solidFill>
                <a:latin typeface="Noto Sans TC"/>
              </a:rPr>
              <a:t>街知巷聞 EveryLane Macau  ·  愛拼才會贏  ·  施天益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6510528"/>
            <a:ext cx="2788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95D50"/>
                </a:solidFill>
                <a:latin typeface="Noto Sans TC"/>
              </a:rPr>
              <a:t>http://47.79.228.128/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9611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C5E86"/>
                </a:solidFill>
                <a:latin typeface="Noto Sans TC"/>
              </a:rPr>
              <a:t>08 · TRUST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A2019"/>
                </a:solidFill>
                <a:latin typeface="Noto Serif TC"/>
              </a:rPr>
              <a:t>路演不能靠運氣：真實 Qwen，也必須有可解釋的保護網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95D50"/>
                </a:solidFill>
                <a:latin typeface="Noto Sans TC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60120" cy="36576"/>
          </a:xfrm>
          <a:prstGeom prst="rect">
            <a:avLst/>
          </a:prstGeom>
          <a:solidFill>
            <a:srgbClr val="BE4A3A"/>
          </a:solidFill>
          <a:ln>
            <a:solidFill>
              <a:srgbClr val="BE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874519" cy="987552"/>
          </a:xfrm>
          <a:prstGeom prst="roundRect">
            <a:avLst/>
          </a:prstGeom>
          <a:solidFill>
            <a:srgbClr val="FFFDF8"/>
          </a:solidFill>
          <a:ln>
            <a:solidFill>
              <a:srgbClr val="E1D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20240"/>
            <a:ext cx="1655063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2C5E86"/>
                </a:solidFill>
                <a:latin typeface="Noto Serif TC"/>
              </a:rPr>
              <a:t>641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86584"/>
            <a:ext cx="1655063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95D50"/>
                </a:solidFill>
                <a:latin typeface="Noto Sans TC"/>
              </a:rPr>
              <a:t>後端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4912" y="1783080"/>
            <a:ext cx="1874519" cy="987552"/>
          </a:xfrm>
          <a:prstGeom prst="roundRect">
            <a:avLst/>
          </a:prstGeom>
          <a:solidFill>
            <a:srgbClr val="FFFDF8"/>
          </a:solidFill>
          <a:ln>
            <a:solidFill>
              <a:srgbClr val="E1D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920240"/>
            <a:ext cx="1655063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2C5E86"/>
                </a:solidFill>
                <a:latin typeface="Noto Serif TC"/>
              </a:rPr>
              <a:t>119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386584"/>
            <a:ext cx="1655063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95D50"/>
                </a:solidFill>
                <a:latin typeface="Noto Sans TC"/>
              </a:rPr>
              <a:t>瀏覽器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64024" y="1783080"/>
            <a:ext cx="1874519" cy="987552"/>
          </a:xfrm>
          <a:prstGeom prst="roundRect">
            <a:avLst/>
          </a:prstGeom>
          <a:solidFill>
            <a:srgbClr val="FFFDF8"/>
          </a:solidFill>
          <a:ln>
            <a:solidFill>
              <a:srgbClr val="E1D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3752" y="1920240"/>
            <a:ext cx="1655063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2C5E86"/>
                </a:solidFill>
                <a:latin typeface="Noto Serif TC"/>
              </a:rPr>
              <a:t>101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2386584"/>
            <a:ext cx="1655063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95D50"/>
                </a:solidFill>
                <a:latin typeface="Noto Sans TC"/>
              </a:rPr>
              <a:t>API / 安全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03136" y="1783080"/>
            <a:ext cx="1874519" cy="987552"/>
          </a:xfrm>
          <a:prstGeom prst="roundRect">
            <a:avLst/>
          </a:prstGeom>
          <a:solidFill>
            <a:srgbClr val="FFFDF8"/>
          </a:solidFill>
          <a:ln>
            <a:solidFill>
              <a:srgbClr val="E1D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2864" y="1920240"/>
            <a:ext cx="1655063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2C5E86"/>
                </a:solidFill>
                <a:latin typeface="Noto Serif TC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2386584"/>
            <a:ext cx="1655063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95D50"/>
                </a:solidFill>
                <a:latin typeface="Noto Sans TC"/>
              </a:rPr>
              <a:t>MCP 工具協議 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42248" y="1783080"/>
            <a:ext cx="1874519" cy="987552"/>
          </a:xfrm>
          <a:prstGeom prst="roundRect">
            <a:avLst/>
          </a:prstGeom>
          <a:solidFill>
            <a:srgbClr val="FFFDF8"/>
          </a:solidFill>
          <a:ln>
            <a:solidFill>
              <a:srgbClr val="E1D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1976" y="1920240"/>
            <a:ext cx="1655063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3E8E5A"/>
                </a:solidFill>
                <a:latin typeface="Noto Serif TC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1976" y="2386584"/>
            <a:ext cx="1655063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95D50"/>
                </a:solidFill>
                <a:latin typeface="Noto Sans TC"/>
              </a:rPr>
              <a:t>上述套件 FAIL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73552"/>
            <a:ext cx="5212080" cy="2011680"/>
          </a:xfrm>
          <a:prstGeom prst="roundRect">
            <a:avLst/>
          </a:prstGeom>
          <a:solidFill>
            <a:srgbClr val="FFFDF8"/>
          </a:solidFill>
          <a:ln>
            <a:solidFill>
              <a:srgbClr val="E1D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547872"/>
            <a:ext cx="1828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BE4A3A"/>
                </a:solidFill>
                <a:latin typeface="Noto Sans TC"/>
              </a:rPr>
              <a:t>可靠性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977639"/>
            <a:ext cx="4526280" cy="10515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1" sz="1300">
                <a:solidFill>
                  <a:srgbClr val="BE4A3A"/>
                </a:solidFill>
                <a:latin typeface="Noto Sans TC"/>
              </a:rPr>
              <a:t>45 秒：</a:t>
            </a:r>
            <a:r>
              <a:rPr sz="1300">
                <a:solidFill>
                  <a:srgbClr val="2A2019"/>
                </a:solidFill>
                <a:latin typeface="Noto Sans TC"/>
              </a:rPr>
              <a:t>單次模型逾時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1" sz="1300">
                <a:solidFill>
                  <a:srgbClr val="BE4A3A"/>
                </a:solidFill>
                <a:latin typeface="Noto Sans TC"/>
              </a:rPr>
              <a:t>110 秒：</a:t>
            </a:r>
            <a:r>
              <a:rPr sz="1300">
                <a:solidFill>
                  <a:srgbClr val="2A2019"/>
                </a:solidFill>
                <a:latin typeface="Noto Sans TC"/>
              </a:rPr>
              <a:t>整體 Qwen 時間預算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1" sz="1300">
                <a:solidFill>
                  <a:srgbClr val="BE4A3A"/>
                </a:solidFill>
                <a:latin typeface="Noto Sans TC"/>
              </a:rPr>
              <a:t>自動接管：</a:t>
            </a:r>
            <a:r>
              <a:rPr sz="1300">
                <a:solidFill>
                  <a:srgbClr val="2A2019"/>
                </a:solidFill>
                <a:latin typeface="Noto Sans TC"/>
              </a:rPr>
              <a:t>同一知識庫與工具完成，不顯示假 Qwen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1" sz="1300">
                <a:solidFill>
                  <a:srgbClr val="BE4A3A"/>
                </a:solidFill>
                <a:latin typeface="Noto Sans TC"/>
              </a:rPr>
              <a:t>靜態備援：</a:t>
            </a:r>
            <a:r>
              <a:rPr sz="1300">
                <a:solidFill>
                  <a:srgbClr val="2A2019"/>
                </a:solidFill>
                <a:latin typeface="Noto Sans TC"/>
              </a:rPr>
              <a:t>GitHub Pages 仍可演示核心流程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273552"/>
            <a:ext cx="5102352" cy="2011680"/>
          </a:xfrm>
          <a:prstGeom prst="roundRect">
            <a:avLst/>
          </a:prstGeom>
          <a:solidFill>
            <a:srgbClr val="FFFDF8"/>
          </a:solidFill>
          <a:ln>
            <a:solidFill>
              <a:srgbClr val="E1D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3547872"/>
            <a:ext cx="1828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3E8E5A"/>
                </a:solidFill>
                <a:latin typeface="Noto Sans TC"/>
              </a:rPr>
              <a:t>AI 倫理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977639"/>
            <a:ext cx="4434840" cy="10515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1" sz="1300">
                <a:solidFill>
                  <a:srgbClr val="BE4A3A"/>
                </a:solidFill>
                <a:latin typeface="Noto Sans TC"/>
              </a:rPr>
              <a:t>透明：</a:t>
            </a:r>
            <a:r>
              <a:rPr sz="1300">
                <a:solidFill>
                  <a:srgbClr val="2A2019"/>
                </a:solidFill>
                <a:latin typeface="Noto Sans TC"/>
              </a:rPr>
              <a:t>引擎、估算、回退與示範數據明示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1" sz="1300">
                <a:solidFill>
                  <a:srgbClr val="BE4A3A"/>
                </a:solidFill>
                <a:latin typeface="Noto Sans TC"/>
              </a:rPr>
              <a:t>準確：</a:t>
            </a:r>
            <a:r>
              <a:rPr sz="1300">
                <a:solidFill>
                  <a:srgbClr val="2A2019"/>
                </a:solidFill>
                <a:latin typeface="Noto Sans TC"/>
              </a:rPr>
              <a:t>關鍵事實由工具與安全核對器控制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1" sz="1300">
                <a:solidFill>
                  <a:srgbClr val="BE4A3A"/>
                </a:solidFill>
                <a:latin typeface="Noto Sans TC"/>
              </a:rPr>
              <a:t>私隱：</a:t>
            </a:r>
            <a:r>
              <a:rPr sz="1300">
                <a:solidFill>
                  <a:srgbClr val="2A2019"/>
                </a:solidFill>
                <a:latin typeface="Noto Sans TC"/>
              </a:rPr>
              <a:t>免登入；到店碼不含個人資料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1" sz="1300">
                <a:solidFill>
                  <a:srgbClr val="BE4A3A"/>
                </a:solidFill>
                <a:latin typeface="Noto Sans TC"/>
              </a:rPr>
              <a:t>公平：</a:t>
            </a:r>
            <a:r>
              <a:rPr sz="1300">
                <a:solidFill>
                  <a:srgbClr val="2A2019"/>
                </a:solidFill>
                <a:latin typeface="Noto Sans TC"/>
              </a:rPr>
              <a:t>刻意讓資源較弱的舊區獲得曝光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95D50"/>
                </a:solidFill>
                <a:latin typeface="Noto Sans TC"/>
              </a:rPr>
              <a:t>街知巷聞 EveryLane Macau  ·  愛拼才會贏  ·  施天益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6510528"/>
            <a:ext cx="2788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95D50"/>
                </a:solidFill>
                <a:latin typeface="Noto Sans TC"/>
              </a:rPr>
              <a:t>http://47.79.228.128/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3F52"/>
          </a:solidFill>
          <a:ln>
            <a:solidFill>
              <a:srgbClr val="26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Noto Serif TC"/>
              </a:rPr>
              <a:t>我們完成的，不是一份漂亮行程。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27632"/>
            <a:ext cx="9875520" cy="12344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3200" b="1">
                <a:solidFill>
                  <a:srgbClr val="F3D184"/>
                </a:solidFill>
                <a:latin typeface="Noto Serif TC"/>
              </a:rPr>
              <a:t>而是一個能把旅遊流量帶入舊區、
再用到店碼證明價值的 AI Agent。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337560"/>
            <a:ext cx="2194560" cy="347472"/>
          </a:xfrm>
          <a:prstGeom prst="roundRect">
            <a:avLst/>
          </a:prstGeom>
          <a:solidFill>
            <a:srgbClr val="BE4A3A"/>
          </a:solidFill>
          <a:ln>
            <a:solidFill>
              <a:srgbClr val="BE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01952" y="3410712"/>
            <a:ext cx="2048255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 TC"/>
              </a:rPr>
              <a:t>創意：舊區導流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3337560"/>
            <a:ext cx="2880360" cy="347472"/>
          </a:xfrm>
          <a:prstGeom prst="roundRect">
            <a:avLst/>
          </a:prstGeom>
          <a:solidFill>
            <a:srgbClr val="2C5E86"/>
          </a:solidFill>
          <a:ln>
            <a:solidFill>
              <a:srgbClr val="2C5E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3410712"/>
            <a:ext cx="273405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 TC"/>
              </a:rPr>
              <a:t>技術：QwenPaw + MCP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3337560"/>
            <a:ext cx="2194560" cy="347472"/>
          </a:xfrm>
          <a:prstGeom prst="roundRect">
            <a:avLst/>
          </a:prstGeom>
          <a:solidFill>
            <a:srgbClr val="3E8E5A"/>
          </a:solidFill>
          <a:ln>
            <a:solidFill>
              <a:srgbClr val="3E8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3410712"/>
            <a:ext cx="2048255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 TC"/>
              </a:rPr>
              <a:t>價值：到店可歸因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33087"/>
            <a:ext cx="1024128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TC"/>
              </a:rPr>
              <a:t>現場可驗證：90 秒評審演示 → 到店碼核銷 → 成效儀表板</a:t>
            </a:r>
          </a:p>
        </p:txBody>
      </p:sp>
      <p:pic>
        <p:nvPicPr>
          <p:cNvPr id="12" name="Picture 11" descr="site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4663440"/>
            <a:ext cx="1325880" cy="1325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86200" y="6144768"/>
            <a:ext cx="406908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C"/>
              </a:rPr>
              <a:t>http://47.79.228.128/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6473952"/>
            <a:ext cx="589788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D0DCE4"/>
                </a:solidFill>
                <a:latin typeface="Noto Sans TC"/>
              </a:rPr>
              <a:t>多謝各位評審，歡迎提問。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